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id="2147483648" r:id="rId1"/>
  </p:sldMasterIdLst>
  <p:sldIdLst>
    <p:sldId id="257" r:id="rId101"/>
    <p:sldId id="258" r:id="rId102"/>
    <p:sldId id="259" r:id="rId103"/>
    <p:sldId id="260" r:id="rId10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<Relationship Id="rId101" Type="http://schemas.openxmlformats.org/officeDocument/2006/relationships/slide" Target="slides/slide1.xml"/>
<Relationship Id="rId102" Type="http://schemas.openxmlformats.org/officeDocument/2006/relationships/slide" Target="slides/slide2.xml"/>
<Relationship Id="rId103" Type="http://schemas.openxmlformats.org/officeDocument/2006/relationships/slide" Target="slides/slide3.xml"/>
<Relationship Id="rId104" Type="http://schemas.openxmlformats.org/officeDocument/2006/relationships/slide" Target="slides/slide4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457200"/>
            <a:ext cx="11277295" cy="589279"/>
          </a:xfrm>
          <a:prstGeom prst="rect">
            <a:avLst/>
          </a:prstGeom>
          <a:noFill/>
        </p:spPr>
        <p:txBody>
          <a:bodyPr wrap="square" rtlCol="0" anchor="ctr" lIns="0" tIns="0" rIns="0" bIns="0"/>
          <a:lstStyle/>
          <a:p>
            <a:pPr/>
            <a:r>
              <a:rPr lang="en-US" dirty="0" sz="3200" b="1" i="0">
                <a:solidFill>
                  <a:srgbClr val="000000"/>
                </a:solidFill>
                <a:latin typeface="Freesentation"/>
                <a:ea typeface="Freesentation"/>
              </a:rPr>
              <a:t>Quarterly Business Report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1046479"/>
            <a:ext cx="11277295" cy="640080"/>
          </a:xfrm>
          <a:prstGeom prst="rect">
            <a:avLst/>
          </a:prstGeom>
          <a:noFill/>
        </p:spPr>
        <p:txBody>
          <a:bodyPr wrap="square" rtlCol="0" anchor="ctr" lIns="0" tIns="0" rIns="0" bIns="0"/>
          <a:lstStyle/>
          <a:p>
            <a:pPr/>
            <a:r>
              <a:rPr lang="en-US" dirty="0" sz="1200" b="0" i="0">
                <a:solidFill>
                  <a:srgbClr val="333333"/>
                </a:solidFill>
                <a:latin typeface="Freesentation"/>
                <a:ea typeface="Freesentation"/>
              </a:rPr>
              <a:t>This sample demonstrates the HTML to PPTX conversion engine. Any HTML file with headings, paragraphs, tables, lists, and images can be converted to an editable PowerPoint presentation.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457200" y="1686560"/>
            <a:ext cx="11277295" cy="426719"/>
          </a:xfrm>
          <a:prstGeom prst="rect">
            <a:avLst/>
          </a:prstGeom>
          <a:noFill/>
        </p:spPr>
        <p:txBody>
          <a:bodyPr wrap="square" rtlCol="0" anchor="ctr" lIns="0" tIns="0" rIns="0" bIns="0"/>
          <a:lstStyle/>
          <a:p>
            <a:pPr/>
            <a:r>
              <a:rPr lang="en-US" dirty="0" sz="1200" b="0" i="0">
                <a:solidFill>
                  <a:srgbClr val="333333"/>
                </a:solidFill>
                <a:latin typeface="Freesentation"/>
                <a:ea typeface="Freesentation"/>
              </a:rPr>
              <a:t>
  Key Highlight: Revenue grew 23% year-over-year, driven by community-based wellness commerce expansion.
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none" rtlCol="0" anchor="ctr" lIns="0" tIns="0" rIns="0" bIns="0"/>
          <a:lstStyle/>
          <a:p>
            <a:pPr/>
            <a:r>
              <a:rPr lang="en-US" dirty="0" sz="900" b="0" i="0">
                <a:solidFill>
                  <a:srgbClr val="999999"/>
                </a:solidFill>
                <a:latin typeface="Freesentation"/>
                <a:ea typeface="Freesentation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457200"/>
            <a:ext cx="11277295" cy="513080"/>
          </a:xfrm>
          <a:prstGeom prst="rect">
            <a:avLst/>
          </a:prstGeom>
          <a:noFill/>
        </p:spPr>
        <p:txBody>
          <a:bodyPr wrap="square" rtlCol="0" anchor="ctr" lIns="0" tIns="0" rIns="0" bIns="0"/>
          <a:lstStyle/>
          <a:p>
            <a:pPr/>
            <a:r>
              <a:rPr lang="en-US" dirty="0" sz="2600" b="1" i="0">
                <a:solidFill>
                  <a:srgbClr val="000000"/>
                </a:solidFill>
                <a:latin typeface="Freesentation"/>
                <a:ea typeface="Freesentation"/>
              </a:rPr>
              <a:t>Financial Summary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457200" y="970280"/>
          <a:ext cx="11277295" cy="1280160"/>
        </p:xfrm>
        <a:graphic>
          <a:graphicData uri="http://schemas.openxmlformats.org/drawingml/2006/table">
            <a:tbl>
              <a:tblPr firstRow="1" bandRow="1"/>
              <a:tblGrid>
                <a:gridCol w="2255459"/>
                <a:gridCol w="2255459"/>
                <a:gridCol w="2255459"/>
                <a:gridCol w="2255459"/>
                <a:gridCol w="2255459"/>
              </a:tblGrid>
              <a:tr h="320040">
                <a:tc>
                  <a:txBody>
                    <a:bodyPr/>
                    <a:lstStyle/>
                    <a:p>
                      <a:r>
                        <a:rPr lang="ko-KR" sz="1000" b="1" dirty="0">
                          <a:solidFill>
                            <a:srgbClr val="333333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sz="1000" b="1" dirty="0">
                          <a:solidFill>
                            <a:srgbClr val="333333"/>
                          </a:solidFill>
                        </a:rPr>
                        <a:t>Q1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sz="1000" b="1" dirty="0">
                          <a:solidFill>
                            <a:srgbClr val="333333"/>
                          </a:solidFill>
                        </a:rPr>
                        <a:t>Q2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sz="1000" b="1" dirty="0">
                          <a:solidFill>
                            <a:srgbClr val="333333"/>
                          </a:solidFill>
                        </a:rPr>
                        <a:t>Q3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sz="1000" b="1" dirty="0">
                          <a:solidFill>
                            <a:srgbClr val="333333"/>
                          </a:solidFill>
                        </a:rPr>
                        <a:t>Q4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ko-KR" sz="1000" dirty="0">
                          <a:solidFill>
                            <a:srgbClr val="333333"/>
                          </a:solidFill>
                        </a:rPr>
                        <a:t>Revenue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sz="1000" dirty="0">
                          <a:solidFill>
                            <a:srgbClr val="333333"/>
                          </a:solidFill>
                        </a:rPr>
                        <a:t>$1.2M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sz="1000" dirty="0">
                          <a:solidFill>
                            <a:srgbClr val="333333"/>
                          </a:solidFill>
                        </a:rPr>
                        <a:t>$1.5M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sz="1000" dirty="0">
                          <a:solidFill>
                            <a:srgbClr val="333333"/>
                          </a:solidFill>
                        </a:rPr>
                        <a:t>$1.8M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sz="1000" dirty="0">
                          <a:solidFill>
                            <a:srgbClr val="333333"/>
                          </a:solidFill>
                        </a:rPr>
                        <a:t>$2.1M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ko-KR" sz="1000" dirty="0">
                          <a:solidFill>
                            <a:srgbClr val="333333"/>
                          </a:solidFill>
                        </a:rPr>
                        <a:t>Users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sz="1000" dirty="0">
                          <a:solidFill>
                            <a:srgbClr val="333333"/>
                          </a:solidFill>
                        </a:rPr>
                        <a:t>12,000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sz="1000" dirty="0">
                          <a:solidFill>
                            <a:srgbClr val="333333"/>
                          </a:solidFill>
                        </a:rPr>
                        <a:t>15,000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sz="1000" dirty="0">
                          <a:solidFill>
                            <a:srgbClr val="333333"/>
                          </a:solidFill>
                        </a:rPr>
                        <a:t>19,000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sz="1000" dirty="0">
                          <a:solidFill>
                            <a:srgbClr val="333333"/>
                          </a:solidFill>
                        </a:rPr>
                        <a:t>24,000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lang="ko-KR" sz="1000" dirty="0">
                          <a:solidFill>
                            <a:srgbClr val="333333"/>
                          </a:solidFill>
                        </a:rPr>
                        <a:t>Retention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sz="1000" dirty="0">
                          <a:solidFill>
                            <a:srgbClr val="333333"/>
                          </a:solidFill>
                        </a:rPr>
                        <a:t>78%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sz="1000" dirty="0">
                          <a:solidFill>
                            <a:srgbClr val="333333"/>
                          </a:solidFill>
                        </a:rPr>
                        <a:t>82%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sz="1000" dirty="0">
                          <a:solidFill>
                            <a:srgbClr val="333333"/>
                          </a:solidFill>
                        </a:rPr>
                        <a:t>85%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ko-KR" sz="1000" dirty="0">
                          <a:solidFill>
                            <a:srgbClr val="333333"/>
                          </a:solidFill>
                        </a:rPr>
                        <a:t>88%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4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none" rtlCol="0" anchor="ctr" lIns="0" tIns="0" rIns="0" bIns="0"/>
          <a:lstStyle/>
          <a:p>
            <a:pPr/>
            <a:r>
              <a:rPr lang="en-US" dirty="0" sz="900" b="0" i="0">
                <a:solidFill>
                  <a:srgbClr val="999999"/>
                </a:solidFill>
                <a:latin typeface="Freesentation"/>
                <a:ea typeface="Freesentation"/>
              </a:rPr>
              <a:t>2 /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457200"/>
            <a:ext cx="11277295" cy="513080"/>
          </a:xfrm>
          <a:prstGeom prst="rect">
            <a:avLst/>
          </a:prstGeom>
          <a:noFill/>
        </p:spPr>
        <p:txBody>
          <a:bodyPr wrap="square" rtlCol="0" anchor="ctr" lIns="0" tIns="0" rIns="0" bIns="0"/>
          <a:lstStyle/>
          <a:p>
            <a:pPr/>
            <a:r>
              <a:rPr lang="en-US" dirty="0" sz="2600" b="1" i="0">
                <a:solidFill>
                  <a:srgbClr val="000000"/>
                </a:solidFill>
                <a:latin typeface="Freesentation"/>
                <a:ea typeface="Freesentation"/>
              </a:rPr>
              <a:t>Strategic Priorities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731520" y="970280"/>
            <a:ext cx="11002975" cy="213359"/>
          </a:xfrm>
          <a:prstGeom prst="rect">
            <a:avLst/>
          </a:prstGeom>
          <a:noFill/>
        </p:spPr>
        <p:txBody>
          <a:bodyPr wrap="square" rtlCol="0" anchor="ctr" lIns="0" tIns="0" rIns="0" bIns="0"/>
          <a:lstStyle/>
          <a:p>
            <a:pPr/>
            <a:r>
              <a:rPr lang="en-US" dirty="0" sz="1200" b="0" i="0">
                <a:solidFill>
                  <a:srgbClr val="333333"/>
                </a:solidFill>
                <a:latin typeface="Freesentation"/>
                <a:ea typeface="Freesentation"/>
              </a:rPr>
              <a:t>• Expand global wellness commerce platform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731520" y="1183640"/>
            <a:ext cx="11002975" cy="213359"/>
          </a:xfrm>
          <a:prstGeom prst="rect">
            <a:avLst/>
          </a:prstGeom>
          <a:noFill/>
        </p:spPr>
        <p:txBody>
          <a:bodyPr wrap="square" rtlCol="0" anchor="ctr" lIns="0" tIns="0" rIns="0" bIns="0"/>
          <a:lstStyle/>
          <a:p>
            <a:pPr/>
            <a:r>
              <a:rPr lang="en-US" dirty="0" sz="1200" b="0" i="0">
                <a:solidFill>
                  <a:srgbClr val="333333"/>
                </a:solidFill>
                <a:latin typeface="Freesentation"/>
                <a:ea typeface="Freesentation"/>
              </a:rPr>
              <a:t>• Launch mobile app with health data integration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31520" y="1397000"/>
            <a:ext cx="11002975" cy="213359"/>
          </a:xfrm>
          <a:prstGeom prst="rect">
            <a:avLst/>
          </a:prstGeom>
          <a:noFill/>
        </p:spPr>
        <p:txBody>
          <a:bodyPr wrap="square" rtlCol="0" anchor="ctr" lIns="0" tIns="0" rIns="0" bIns="0"/>
          <a:lstStyle/>
          <a:p>
            <a:pPr/>
            <a:r>
              <a:rPr lang="en-US" dirty="0" sz="1200" b="0" i="0">
                <a:solidFill>
                  <a:srgbClr val="333333"/>
                </a:solidFill>
                <a:latin typeface="Freesentation"/>
                <a:ea typeface="Freesentation"/>
              </a:rPr>
              <a:t>• Scale B2B partnership program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31520" y="1610360"/>
            <a:ext cx="11002975" cy="213359"/>
          </a:xfrm>
          <a:prstGeom prst="rect">
            <a:avLst/>
          </a:prstGeom>
          <a:noFill/>
        </p:spPr>
        <p:txBody>
          <a:bodyPr wrap="square" rtlCol="0" anchor="ctr" lIns="0" tIns="0" rIns="0" bIns="0"/>
          <a:lstStyle/>
          <a:p>
            <a:pPr/>
            <a:r>
              <a:rPr lang="en-US" dirty="0" sz="1200" b="0" i="0">
                <a:solidFill>
                  <a:srgbClr val="333333"/>
                </a:solidFill>
                <a:latin typeface="Freesentation"/>
                <a:ea typeface="Freesentation"/>
              </a:rPr>
              <a:t>• Grow content creator ecosystem</a:t>
            </a:r>
          </a:p>
        </p:txBody>
      </p:sp>
      <p:sp>
        <p:nvSpPr>
          <p:cNvPr id="7" name="Text 7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none" rtlCol="0" anchor="ctr" lIns="0" tIns="0" rIns="0" bIns="0"/>
          <a:lstStyle/>
          <a:p>
            <a:pPr/>
            <a:r>
              <a:rPr lang="en-US" dirty="0" sz="900" b="0" i="0">
                <a:solidFill>
                  <a:srgbClr val="999999"/>
                </a:solidFill>
                <a:latin typeface="Freesentation"/>
                <a:ea typeface="Freesentation"/>
              </a:rPr>
              <a:t>3 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457200" y="457200"/>
            <a:ext cx="11277295" cy="513080"/>
          </a:xfrm>
          <a:prstGeom prst="rect">
            <a:avLst/>
          </a:prstGeom>
          <a:noFill/>
        </p:spPr>
        <p:txBody>
          <a:bodyPr wrap="square" rtlCol="0" anchor="ctr" lIns="0" tIns="0" rIns="0" bIns="0"/>
          <a:lstStyle/>
          <a:p>
            <a:pPr/>
            <a:r>
              <a:rPr lang="en-US" dirty="0" sz="2600" b="1" i="0">
                <a:solidFill>
                  <a:srgbClr val="000000"/>
                </a:solidFill>
                <a:latin typeface="Freesentation"/>
                <a:ea typeface="Freesentation"/>
              </a:rPr>
              <a:t>Product Roadmap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970280"/>
            <a:ext cx="11277295" cy="426719"/>
          </a:xfrm>
          <a:prstGeom prst="rect">
            <a:avLst/>
          </a:prstGeom>
          <a:noFill/>
        </p:spPr>
        <p:txBody>
          <a:bodyPr wrap="square" rtlCol="0" anchor="ctr" lIns="0" tIns="0" rIns="0" bIns="0"/>
          <a:lstStyle/>
          <a:p>
            <a:pPr/>
            <a:r>
              <a:rPr lang="en-US" dirty="0" sz="1200" b="0" i="0">
                <a:solidFill>
                  <a:srgbClr val="333333"/>
                </a:solidFill>
                <a:latin typeface="Freesentation"/>
                <a:ea typeface="Freesentation"/>
              </a:rPr>
              <a:t>Our three-pillar strategy combines community engagement, premium content, and commerce integration to create a sustainable wellness ecosystem.</a:t>
            </a:r>
          </a:p>
        </p:txBody>
      </p:sp>
      <p:sp>
        <p:nvSpPr>
          <p:cNvPr id="4" name="Text 4"/>
          <p:cNvSpPr txBox="1"/>
          <p:nvPr/>
        </p:nvSpPr>
        <p:spPr>
          <a:xfrm>
            <a:off x="731520" y="1397000"/>
            <a:ext cx="11002975" cy="213359"/>
          </a:xfrm>
          <a:prstGeom prst="rect">
            <a:avLst/>
          </a:prstGeom>
          <a:noFill/>
        </p:spPr>
        <p:txBody>
          <a:bodyPr wrap="square" rtlCol="0" anchor="ctr" lIns="0" tIns="0" rIns="0" bIns="0"/>
          <a:lstStyle/>
          <a:p>
            <a:pPr/>
            <a:r>
              <a:rPr lang="en-US" dirty="0" sz="1200" b="0" i="0">
                <a:solidFill>
                  <a:srgbClr val="333333"/>
                </a:solidFill>
                <a:latin typeface="Freesentation"/>
                <a:ea typeface="Freesentation"/>
              </a:rPr>
              <a:t>1. Community — subscription-based membership with offline events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731520" y="1610360"/>
            <a:ext cx="11002975" cy="213359"/>
          </a:xfrm>
          <a:prstGeom prst="rect">
            <a:avLst/>
          </a:prstGeom>
          <a:noFill/>
        </p:spPr>
        <p:txBody>
          <a:bodyPr wrap="square" rtlCol="0" anchor="ctr" lIns="0" tIns="0" rIns="0" bIns="0"/>
          <a:lstStyle/>
          <a:p>
            <a:pPr/>
            <a:r>
              <a:rPr lang="en-US" dirty="0" sz="1200" b="0" i="0">
                <a:solidFill>
                  <a:srgbClr val="333333"/>
                </a:solidFill>
                <a:latin typeface="Freesentation"/>
                <a:ea typeface="Freesentation"/>
              </a:rPr>
              <a:t>2. Content — YouTube, VOD courses, and certified coaching programs</a:t>
            </a:r>
          </a:p>
        </p:txBody>
      </p:sp>
      <p:sp>
        <p:nvSpPr>
          <p:cNvPr id="6" name="Text 6"/>
          <p:cNvSpPr txBox="1"/>
          <p:nvPr/>
        </p:nvSpPr>
        <p:spPr>
          <a:xfrm>
            <a:off x="731520" y="1823720"/>
            <a:ext cx="11002975" cy="213359"/>
          </a:xfrm>
          <a:prstGeom prst="rect">
            <a:avLst/>
          </a:prstGeom>
          <a:noFill/>
        </p:spPr>
        <p:txBody>
          <a:bodyPr wrap="square" rtlCol="0" anchor="ctr" lIns="0" tIns="0" rIns="0" bIns="0"/>
          <a:lstStyle/>
          <a:p>
            <a:pPr/>
            <a:r>
              <a:rPr lang="en-US" dirty="0" sz="1200" b="0" i="0">
                <a:solidFill>
                  <a:srgbClr val="333333"/>
                </a:solidFill>
                <a:latin typeface="Freesentation"/>
                <a:ea typeface="Freesentation"/>
              </a:rPr>
              <a:t>3. Commerce — nutrition, wellness food, and performance apparel</a:t>
            </a:r>
          </a:p>
        </p:txBody>
      </p:sp>
      <p:sp>
        <p:nvSpPr>
          <p:cNvPr id="7" name="Shape 7"/>
          <p:cNvSpPr/>
          <p:nvPr/>
        </p:nvSpPr>
        <p:spPr>
          <a:xfrm>
            <a:off x="457200" y="2082800"/>
            <a:ext cx="11277295" cy="18288"/>
          </a:xfrm>
          <a:prstGeom prst="rect">
            <a:avLst/>
          </a:prstGeom>
          <a:solidFill>
            <a:srgbClr val="CCCCCC"/>
          </a:solidFill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rgbClr r="0" g="0" b="0"/>
          </a:fontRef>
        </p:style>
      </p:sp>
      <p:sp>
        <p:nvSpPr>
          <p:cNvPr id="8" name="Text 8"/>
          <p:cNvSpPr txBox="1"/>
          <p:nvPr/>
        </p:nvSpPr>
        <p:spPr>
          <a:xfrm>
            <a:off x="457200" y="2174240"/>
            <a:ext cx="11277295" cy="160020"/>
          </a:xfrm>
          <a:prstGeom prst="rect">
            <a:avLst/>
          </a:prstGeom>
          <a:noFill/>
        </p:spPr>
        <p:txBody>
          <a:bodyPr wrap="square" rtlCol="0" anchor="ctr" lIns="0" tIns="0" rIns="0" bIns="0"/>
          <a:lstStyle/>
          <a:p>
            <a:pPr/>
            <a:r>
              <a:rPr lang="en-US" dirty="0" sz="900" b="0" i="0">
                <a:solidFill>
                  <a:srgbClr val="9CA3AF"/>
                </a:solidFill>
                <a:latin typeface="Freesentation"/>
                <a:ea typeface="Freesentation"/>
              </a:rPr>
              <a:t>Generated by pptx-engine · MIT License</a:t>
            </a:r>
          </a:p>
        </p:txBody>
      </p:sp>
      <p:sp>
        <p:nvSpPr>
          <p:cNvPr id="9" name="Text 9"/>
          <p:cNvSpPr txBox="1"/>
          <p:nvPr/>
        </p:nvSpPr>
        <p:spPr>
          <a:xfrm>
            <a:off x="10820095" y="6400800"/>
            <a:ext cx="914400" cy="274320"/>
          </a:xfrm>
          <a:prstGeom prst="rect">
            <a:avLst/>
          </a:prstGeom>
          <a:noFill/>
        </p:spPr>
        <p:txBody>
          <a:bodyPr wrap="none" rtlCol="0" anchor="ctr" lIns="0" tIns="0" rIns="0" bIns="0"/>
          <a:lstStyle/>
          <a:p>
            <a:pPr/>
            <a:r>
              <a:rPr lang="en-US" dirty="0" sz="900" b="0" i="0">
                <a:solidFill>
                  <a:srgbClr val="999999"/>
                </a:solidFill>
                <a:latin typeface="Freesentation"/>
                <a:ea typeface="Freesentation"/>
              </a:rPr>
              <a:t>4 /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">
  <a:themeElements>
    <a:clrScheme name="Defaul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Default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Defaul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6350">
          <a:solidFill>
            <a:schemeClr val="phClr"/>
          </a:solidFill>
        </a:ln>
        <a:ln w="63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